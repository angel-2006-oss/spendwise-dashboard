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97280"/>
            <a:ext cx="4297680" cy="4297680"/>
          </a:xfrm>
          <a:prstGeom prst="ellipse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474720"/>
            <a:ext cx="2926080" cy="2926080"/>
          </a:xfrm>
          <a:prstGeom prst="ellipse">
            <a:avLst/>
          </a:prstGeom>
          <a:solidFill>
            <a:srgbClr val="82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72237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C1BBFF"/>
                </a:solidFill>
                <a:latin typeface="Aptos"/>
              </a:defRPr>
            </a:pPr>
            <a:r>
              <a:t>FINAL-YEAR UNDERGRADUATE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8638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SpendWise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74066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ptos"/>
              </a:defRPr>
            </a:pPr>
            <a:r>
              <a:t>Personal Expense Analysis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5836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DEE2F0"/>
                </a:solidFill>
                <a:latin typeface="Aptos"/>
              </a:defRPr>
            </a:pPr>
            <a:r>
              <a:t>A lightweight web app to record expenses, review spending patterns, and monitor a monthly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CD2E5"/>
                </a:solidFill>
                <a:latin typeface="Aptos"/>
              </a:defRPr>
            </a:pPr>
            <a:r>
              <a:t>HTML  ·  CSS  ·  JavaScript  ·  Browser Local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What SpendWise is designed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37944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1089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B3448"/>
                </a:solidFill>
                <a:latin typeface="Aptos"/>
              </a:defRPr>
            </a:pPr>
            <a:r>
              <a:t>Add an expense name, amount, category, and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37944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17845B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58568"/>
            <a:ext cx="31089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B3448"/>
                </a:solidFill>
                <a:latin typeface="Aptos"/>
              </a:defRPr>
            </a:pPr>
            <a:r>
              <a:t>Review monthly totals, category summaries, and daily spending.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37944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A56508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58568"/>
            <a:ext cx="31089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B3448"/>
                </a:solidFill>
                <a:latin typeface="Aptos"/>
              </a:defRPr>
            </a:pPr>
            <a:r>
              <a:t>Set a monthly budget and see progress against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202942"/>
                </a:solidFill>
                <a:latin typeface="Aptos"/>
              </a:defRPr>
            </a:pPr>
            <a:r>
              <a:t>The first version is a static, single-user prototype. It uses manual entries and does not connect to banks or financial institutions.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The motivation behind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6675120" cy="4114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B3448"/>
                </a:solidFill>
                <a:latin typeface="Aptos"/>
              </a:defRPr>
            </a:pPr>
            <a:r>
              <a:t>Everyday purchases can be recorded inconsistently or forgotten.</a:t>
            </a:r>
          </a:p>
          <a:p>
            <a:pPr>
              <a:spcAft>
                <a:spcPts val="1600"/>
              </a:spcAft>
              <a:defRPr sz="2000">
                <a:solidFill>
                  <a:srgbClr val="2B3448"/>
                </a:solidFill>
                <a:latin typeface="Aptos"/>
              </a:defRPr>
            </a:pPr>
            <a:r>
              <a:t>Users may find it difficult to see which categories make up their recorded spending.</a:t>
            </a:r>
          </a:p>
          <a:p>
            <a:pPr>
              <a:spcAft>
                <a:spcPts val="1600"/>
              </a:spcAft>
              <a:defRPr sz="2000">
                <a:solidFill>
                  <a:srgbClr val="2B3448"/>
                </a:solidFill>
                <a:latin typeface="Aptos"/>
              </a:defRPr>
            </a:pPr>
            <a:r>
              <a:t>Budget usage can be hard to understand without a clear monthly summary.</a:t>
            </a:r>
          </a:p>
          <a:p>
            <a:pPr>
              <a:spcAft>
                <a:spcPts val="1600"/>
              </a:spcAft>
              <a:defRPr sz="2000">
                <a:solidFill>
                  <a:srgbClr val="2B3448"/>
                </a:solidFill>
                <a:latin typeface="Aptos"/>
              </a:defRPr>
            </a:pPr>
            <a:r>
              <a:t>A simple dashboard may make routine expense review more convenient.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92024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066544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A56508"/>
                </a:solidFill>
                <a:latin typeface="Aptos"/>
              </a:defRPr>
            </a:pPr>
            <a:r>
              <a:t>Evidence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487168"/>
            <a:ext cx="292608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B3448"/>
                </a:solidFill>
                <a:latin typeface="Aptos"/>
              </a:defRPr>
            </a:pPr>
            <a:r>
              <a:t>These points motivate the concept. They are not findings from a completed survey or user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Aim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What the prototype intends to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657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3291840" cy="2788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2B3448"/>
                </a:solidFill>
                <a:latin typeface="Aptos"/>
              </a:defRPr>
            </a:pPr>
            <a:r>
              <a:t>Build a responsive browser-based tool for personal expense recording and basic spending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719072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6558D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6400800" cy="3840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Add and delete expense entries.</a:t>
            </a:r>
          </a:p>
          <a:p>
            <a:pPr>
              <a:spcAft>
                <a:spcPts val="9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Group expenses into predefined categories.</a:t>
            </a:r>
          </a:p>
          <a:p>
            <a:pPr>
              <a:spcAft>
                <a:spcPts val="9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Calculate monthly totals and budget usage.</a:t>
            </a:r>
          </a:p>
          <a:p>
            <a:pPr>
              <a:spcAft>
                <a:spcPts val="9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Show category summaries and a daily chart.</a:t>
            </a:r>
          </a:p>
          <a:p>
            <a:pPr>
              <a:spcAft>
                <a:spcPts val="9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Filter transactions and export a CSV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Proposed solution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One dashboard for essential expense-tracking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Summary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Total, remaining budget, transaction count, daily average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3794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Transaction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5856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Name, amount, category, date,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3794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Category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5856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Breakdown of recorded expenses by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Budget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Budget usage bar and status indicator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80390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Filters and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2452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Month, search, category, CSV download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803904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Local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24528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B3448"/>
                </a:solidFill>
                <a:latin typeface="Aptos"/>
              </a:defRPr>
            </a:pPr>
            <a:r>
              <a:t>Save entries in the current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Typical flow through the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02942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>
                <a:solidFill>
                  <a:srgbClr val="646F84"/>
                </a:solidFill>
                <a:latin typeface="Aptos"/>
              </a:defRPr>
            </a:pPr>
            <a:r>
              <a:t>Review current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6558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920240"/>
            <a:ext cx="731520" cy="731520"/>
          </a:xfrm>
          <a:prstGeom prst="ellipse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880360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02942"/>
                </a:solidFill>
                <a:latin typeface="Aptos"/>
              </a:defRPr>
            </a:pPr>
            <a:r>
              <a:t>Add expense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401568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>
                <a:solidFill>
                  <a:srgbClr val="646F84"/>
                </a:solidFill>
                <a:latin typeface="Aptos"/>
              </a:defRPr>
            </a:pPr>
            <a:r>
              <a:t>Enter details and 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210312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6558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269480" y="1920240"/>
            <a:ext cx="731520" cy="731520"/>
          </a:xfrm>
          <a:prstGeom prst="ellipse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02942"/>
                </a:solidFill>
                <a:latin typeface="Aptos"/>
              </a:defRPr>
            </a:pPr>
            <a:r>
              <a:t>Review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01568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>
                <a:solidFill>
                  <a:srgbClr val="646F84"/>
                </a:solidFill>
                <a:latin typeface="Aptos"/>
              </a:defRPr>
            </a:pPr>
            <a:r>
              <a:t>Check categories and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0312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400" b="1">
                <a:solidFill>
                  <a:srgbClr val="6558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39" y="1920240"/>
            <a:ext cx="731520" cy="731520"/>
          </a:xfrm>
          <a:prstGeom prst="ellipse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880360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02942"/>
                </a:solidFill>
                <a:latin typeface="Aptos"/>
              </a:defRPr>
            </a:pPr>
            <a:r>
              <a:t>Filter or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401568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>
                <a:solidFill>
                  <a:srgbClr val="646F84"/>
                </a:solidFill>
                <a:latin typeface="Aptos"/>
              </a:defRPr>
            </a:pPr>
            <a:r>
              <a:t>Find records or download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0">
                <a:solidFill>
                  <a:srgbClr val="646F84"/>
                </a:solidFill>
                <a:latin typeface="Aptos"/>
              </a:defRPr>
            </a:pPr>
            <a:r>
              <a:t>The workflow is manual and local to the browser; there is no bank connection or cloud account.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Planning hypotheses — not validated business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Inconsistent expense records; hard-to-see categories; unclear budget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69164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83794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Alternatives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25856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Notes, spreadsheets, general expense apps, banking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169164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5816" y="183794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25856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Manual entry, categories, monthly summary, budget bar, CSV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69164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183794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3" y="225856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Simple, lightweight, no account or bank connection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02952" y="169164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183794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25856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Potential users: students and individuals; needs are not yet validated.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867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0740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Calculation correctness, task completion, export success, future usability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2928" y="384048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39867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440740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College demo, GitHub Pages, peer feedback if collected.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384048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5816" y="39867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5816" y="440740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No required paid API or backend in the prototype; future services may cost.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2944" y="384048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3" y="39867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Value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3" y="440740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Educational value today; future monetisation is only a possibility.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02952" y="384048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9867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Advantage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4407408"/>
            <a:ext cx="17830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2B3448"/>
                </a:solidFill>
                <a:latin typeface="Aptos"/>
              </a:defRPr>
            </a:pPr>
            <a:r>
              <a:t>No proven moat; student-friendly simplicity is a hypothesis.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Methodology and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Iterative development and manual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Define features and user workflow.</a:t>
            </a:r>
          </a:p>
          <a:p>
            <a:pPr>
              <a:spcAft>
                <a:spcPts val="10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Build semantic HTML and responsive CSS.</a:t>
            </a:r>
          </a:p>
          <a:p>
            <a:pPr>
              <a:spcAft>
                <a:spcPts val="10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Implement calculations, validation, filters, and charts in JavaScript.</a:t>
            </a:r>
          </a:p>
          <a:p>
            <a:pPr>
              <a:spcAft>
                <a:spcPts val="10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Save entries in browser local storage.</a:t>
            </a:r>
          </a:p>
          <a:p>
            <a:pPr>
              <a:spcAft>
                <a:spcPts val="1000"/>
              </a:spcAft>
              <a:defRPr sz="1700">
                <a:solidFill>
                  <a:srgbClr val="2B3448"/>
                </a:solidFill>
                <a:latin typeface="Aptos"/>
              </a:defRPr>
            </a:pPr>
            <a:r>
              <a:t>Manually test core actions and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783080"/>
            <a:ext cx="4389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929384"/>
            <a:ext cx="40233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350008"/>
            <a:ext cx="4023359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HTML5 — structure and forms</a:t>
            </a:r>
            <a:br/>
            <a:br/>
            <a:r>
              <a:t>CSS3 — styling and responsive layout</a:t>
            </a:r>
            <a:br/>
            <a:br/>
            <a:r>
              <a:t>Vanilla JavaScript — logic and visualisation</a:t>
            </a:r>
            <a:br/>
            <a:br/>
            <a:r>
              <a:t>Local storage — browser persistence</a:t>
            </a:r>
            <a:br/>
            <a:br/>
            <a:r>
              <a:t>GitHub Pages — optional static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What a successful prototype should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875520" cy="4023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8"/>
                </a:solidFill>
                <a:latin typeface="Aptos"/>
              </a:defRPr>
            </a:pPr>
            <a:r>
              <a:t>A responsive dashboard that opens in a modern browser.</a:t>
            </a:r>
          </a:p>
          <a:p>
            <a:pPr>
              <a:spcAft>
                <a:spcPts val="1500"/>
              </a:spcAft>
              <a:defRPr sz="1900">
                <a:solidFill>
                  <a:srgbClr val="2B3448"/>
                </a:solidFill>
                <a:latin typeface="Aptos"/>
              </a:defRPr>
            </a:pPr>
            <a:r>
              <a:t>Working expense entry, deletion, filters, and CSV export.</a:t>
            </a:r>
          </a:p>
          <a:p>
            <a:pPr>
              <a:spcAft>
                <a:spcPts val="1500"/>
              </a:spcAft>
              <a:defRPr sz="1900">
                <a:solidFill>
                  <a:srgbClr val="2B3448"/>
                </a:solidFill>
                <a:latin typeface="Aptos"/>
              </a:defRPr>
            </a:pPr>
            <a:r>
              <a:t>Monthly totals, category summaries, daily chart, and budget indicator that update with entries.</a:t>
            </a:r>
          </a:p>
          <a:p>
            <a:pPr>
              <a:spcAft>
                <a:spcPts val="1500"/>
              </a:spcAft>
              <a:defRPr sz="1900">
                <a:solidFill>
                  <a:srgbClr val="2B3448"/>
                </a:solidFill>
                <a:latin typeface="Aptos"/>
              </a:defRPr>
            </a:pPr>
            <a:r>
              <a:t>Browser-local persistence between visits in the same browser.</a:t>
            </a:r>
          </a:p>
          <a:p>
            <a:pPr>
              <a:spcAft>
                <a:spcPts val="1500"/>
              </a:spcAft>
              <a:defRPr sz="1900">
                <a:solidFill>
                  <a:srgbClr val="2B3448"/>
                </a:solidFill>
                <a:latin typeface="Aptos"/>
              </a:defRPr>
            </a:pPr>
            <a:r>
              <a:t>Documented manual tests and a deployable static website.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646F84"/>
                </a:solidFill>
                <a:latin typeface="Aptos"/>
              </a:defRPr>
            </a:pPr>
            <a:r>
              <a:t>These are expected functional outcomes; they are not reported evaluation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Limitations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Be clear about what the prototype can and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A56508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4632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• Manual data may be incomplete.</a:t>
            </a:r>
            <a:br/>
            <a:r>
              <a:t>• Local storage is device/browser specific.</a:t>
            </a:r>
            <a:br/>
            <a:r>
              <a:t>• No login, cloud backup, or multi-user support.</a:t>
            </a:r>
            <a:br/>
            <a:r>
              <a:t>• Sample transactions are fictional.</a:t>
            </a:r>
            <a:br/>
            <a:r>
              <a:t>• No bank integration or financial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37944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17845B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484632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• Avoid entering sensitive financial details.</a:t>
            </a:r>
            <a:br/>
            <a:r>
              <a:t>• Explain local storage clearly.</a:t>
            </a:r>
            <a:br/>
            <a:r>
              <a:t>• Use neutral, non-judgemental budget language.</a:t>
            </a:r>
            <a:br/>
            <a:r>
              <a:t>• Obtain consent and add safeguards if real user data is collected in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20294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646F84"/>
                </a:solidFill>
                <a:latin typeface="Aptos"/>
              </a:defRPr>
            </a:pPr>
            <a:r>
              <a:t>Possible next steps beyond the current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658368" cy="50292"/>
          </a:xfrm>
          <a:prstGeom prst="rect">
            <a:avLst/>
          </a:prstGeom>
          <a:solidFill>
            <a:srgbClr val="655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646F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6558D3"/>
                </a:solidFill>
                <a:latin typeface="Aptos"/>
              </a:defRPr>
            </a:pPr>
            <a:r>
              <a:t>More tracking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30175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Recurring expenses, custom categories, savings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83664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17845B"/>
                </a:solidFill>
                <a:latin typeface="Aptos"/>
              </a:defRPr>
            </a:pPr>
            <a:r>
              <a:t>Better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04288"/>
            <a:ext cx="30175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Monthly report downloads, optional CSV import, improved accessibility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83664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A56508"/>
                </a:solidFill>
                <a:latin typeface="Aptos"/>
              </a:defRPr>
            </a:pPr>
            <a:r>
              <a:t>Secure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04288"/>
            <a:ext cx="30175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2B3448"/>
                </a:solidFill>
                <a:latin typeface="Aptos"/>
              </a:defRPr>
            </a:pPr>
            <a:r>
              <a:t>A backend, authentication, access controls, and secure data handling would be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02942"/>
                </a:solidFill>
                <a:latin typeface="Aptos"/>
              </a:defRPr>
            </a:pPr>
            <a:r>
              <a:t>Bank integrations would also require an authorised provider, user consent, and a security/compliance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4241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98755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SpendWise demonstrates how a simple static website can support expense recording and basic spending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60120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1E5F3"/>
                </a:solidFill>
                <a:latin typeface="Aptos"/>
              </a:defRPr>
            </a:pPr>
            <a:r>
              <a:t>Focused scope and beginner-friendly technology.</a:t>
            </a:r>
          </a:p>
          <a:p>
            <a:pPr>
              <a:spcAft>
                <a:spcPts val="1200"/>
              </a:spcAft>
              <a:defRPr sz="1700">
                <a:solidFill>
                  <a:srgbClr val="E1E5F3"/>
                </a:solidFill>
                <a:latin typeface="Aptos"/>
              </a:defRPr>
            </a:pPr>
            <a:r>
              <a:t>Transparent limits: fictional starter data and browser-local storage.</a:t>
            </a:r>
          </a:p>
          <a:p>
            <a:pPr>
              <a:spcAft>
                <a:spcPts val="1200"/>
              </a:spcAft>
              <a:defRPr sz="1700">
                <a:solidFill>
                  <a:srgbClr val="E1E5F3"/>
                </a:solidFill>
                <a:latin typeface="Aptos"/>
              </a:defRPr>
            </a:pPr>
            <a:r>
              <a:t>Further usability testing is needed before claiming real-world effectiveness.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C1BBFF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